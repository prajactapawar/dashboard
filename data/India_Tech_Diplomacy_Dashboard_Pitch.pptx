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F3A2E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5B8C6E">
              <a:alpha val="3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685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technology diplomacy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page that turns India's scattered technology agreements into one explorable, click-through map of who India partners with, on what, and whether it's still active.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one place to see this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signed technology agreements with dozens of countries since the 1950s — nuclear pacts with the USSR, the US 123 Agreement, iCET, the UK Technology Security Initiative, semiconductor deals with Japan and South Korea. But this record lives nowhere as a single, structured, searchable 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4F6F4"/>
          </a:solidFill>
        </p:spPr>
      </p:sp>
      <p:sp>
        <p:nvSpPr>
          <p:cNvPr id="6" name="Text 4"/>
          <p:cNvSpPr/>
          <p:nvPr/>
        </p:nvSpPr>
        <p:spPr>
          <a:xfrm>
            <a:off x="713232" y="2743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 bilateral briefs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country-by-country, no domain filter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4F6F4"/>
          </a:solidFill>
        </p:spPr>
      </p:sp>
      <p:sp>
        <p:nvSpPr>
          <p:cNvPr id="9" name="Text 7"/>
          <p:cNvSpPr/>
          <p:nvPr/>
        </p:nvSpPr>
        <p:spPr>
          <a:xfrm>
            <a:off x="3456432" y="2743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press releases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56432" y="3246120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MeitY, DAE, ISRO, DRDO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606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4F6F4"/>
          </a:solidFill>
        </p:spPr>
      </p:sp>
      <p:sp>
        <p:nvSpPr>
          <p:cNvPr id="12" name="Text 10"/>
          <p:cNvSpPr/>
          <p:nvPr/>
        </p:nvSpPr>
        <p:spPr>
          <a:xfrm>
            <a:off x="6199632" y="2743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Parliamentary answers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99632" y="3246120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Lok Sabha / Rajya Sabha archives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26060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4F6F4"/>
          </a:solidFill>
        </p:spPr>
      </p:sp>
      <p:sp>
        <p:nvSpPr>
          <p:cNvPr id="15" name="Text 13"/>
          <p:cNvSpPr/>
          <p:nvPr/>
        </p:nvSpPr>
        <p:spPr>
          <a:xfrm>
            <a:off x="8942832" y="274320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think-tank pieces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42832" y="3246120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inconsistent detail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3A2E"/>
          </a:solidFill>
        </p:spPr>
        <p:txBody>
          <a:bodyPr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553712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a simple question — “how many active technology agreements does India have with Japan in semiconductors, and what do they actually say?” — currently takes hours of digging across four or five different sources to answer.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Pick a domain, click a country, see the deal.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interactive dashboard built around one core interaction: filter by technology domain, watch the map respond, and drill into any country's actual agreements without ever leaving the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6F4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685800" cy="68580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76148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564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Filter by domain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semiconductors, space, defense, nuclear, cyber, DPI, green energy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46220" y="3730752"/>
            <a:ext cx="274320" cy="274320"/>
          </a:xfrm>
          <a:prstGeom prst="ellipse">
            <a:avLst/>
          </a:prstGeom>
          <a:solidFill>
            <a:srgbClr val="D98E2B"/>
          </a:solidFill>
        </p:spPr>
      </p:sp>
      <p:sp>
        <p:nvSpPr>
          <p:cNvPr id="11" name="Text 8"/>
          <p:cNvSpPr/>
          <p:nvPr/>
        </p:nvSpPr>
        <p:spPr>
          <a:xfrm>
            <a:off x="4046220" y="36758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6F4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606040"/>
            <a:ext cx="685800" cy="68580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76148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4564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Map recolors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617720" y="402336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country's agreement intensity in that specific domain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95260" y="3730752"/>
            <a:ext cx="274320" cy="274320"/>
          </a:xfrm>
          <a:prstGeom prst="ellipse">
            <a:avLst/>
          </a:prstGeom>
          <a:solidFill>
            <a:srgbClr val="D98E2B"/>
          </a:solidFill>
        </p:spPr>
      </p:sp>
      <p:sp>
        <p:nvSpPr>
          <p:cNvPr id="18" name="Text 14"/>
          <p:cNvSpPr/>
          <p:nvPr/>
        </p:nvSpPr>
        <p:spPr>
          <a:xfrm>
            <a:off x="7795260" y="36758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46720" y="22860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4F6F4"/>
          </a:solidFill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606040"/>
            <a:ext cx="685800" cy="68580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76148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6760" y="3456432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Click to drill in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366760" y="4023360"/>
            <a:ext cx="288036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panel opens, then each agreement expands to full detail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dashboard, end to end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effectLst>
            <a:outerShdw blurRad="177800" dist="635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10424160" cy="457200"/>
          </a:xfrm>
          <a:prstGeom prst="roundRect">
            <a:avLst>
              <a:gd name="adj" fmla="val 12000"/>
            </a:avLst>
          </a:prstGeom>
          <a:solidFill>
            <a:srgbClr val="E7F0EA"/>
          </a:solidFill>
        </p:spPr>
      </p:sp>
      <p:sp>
        <p:nvSpPr>
          <p:cNvPr id="6" name="Shape 4"/>
          <p:cNvSpPr/>
          <p:nvPr/>
        </p:nvSpPr>
        <p:spPr>
          <a:xfrm>
            <a:off x="1051560" y="1728216"/>
            <a:ext cx="490118" cy="274320"/>
          </a:xfrm>
          <a:prstGeom prst="roundRect">
            <a:avLst>
              <a:gd name="adj" fmla="val 50000"/>
            </a:avLst>
          </a:prstGeom>
          <a:solidFill>
            <a:srgbClr val="1F3A2E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28216"/>
            <a:ext cx="4901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51406" y="1728216"/>
            <a:ext cx="134599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1406" y="1728216"/>
            <a:ext cx="1345997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7131" y="1728216"/>
            <a:ext cx="7040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7131" y="1728216"/>
            <a:ext cx="704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20947" y="1728216"/>
            <a:ext cx="8467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0947" y="1728216"/>
            <a:ext cx="84673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77410" y="1728216"/>
            <a:ext cx="84673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7410" y="1728216"/>
            <a:ext cx="84673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33872" y="1728216"/>
            <a:ext cx="7040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728216"/>
            <a:ext cx="704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47688" y="1728216"/>
            <a:ext cx="56144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1728216"/>
            <a:ext cx="56144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8858" y="1728216"/>
            <a:ext cx="120335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8858" y="1728216"/>
            <a:ext cx="120335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energy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2249424"/>
            <a:ext cx="2503170" cy="749808"/>
          </a:xfrm>
          <a:prstGeom prst="roundRect">
            <a:avLst>
              <a:gd name="adj" fmla="val 7317"/>
            </a:avLst>
          </a:prstGeom>
          <a:solidFill>
            <a:srgbClr val="F4F6F4"/>
          </a:solidFill>
        </p:spPr>
      </p:sp>
      <p:sp>
        <p:nvSpPr>
          <p:cNvPr id="23" name="Text 21"/>
          <p:cNvSpPr/>
          <p:nvPr/>
        </p:nvSpPr>
        <p:spPr>
          <a:xfrm>
            <a:off x="1033272" y="2322576"/>
            <a:ext cx="217398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33272" y="2697480"/>
            <a:ext cx="217398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· AI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09010" y="2249424"/>
            <a:ext cx="2503170" cy="749808"/>
          </a:xfrm>
          <a:prstGeom prst="roundRect">
            <a:avLst>
              <a:gd name="adj" fmla="val 7317"/>
            </a:avLst>
          </a:prstGeom>
          <a:solidFill>
            <a:srgbClr val="F4F6F4"/>
          </a:solidFill>
        </p:spPr>
      </p:sp>
      <p:sp>
        <p:nvSpPr>
          <p:cNvPr id="26" name="Text 24"/>
          <p:cNvSpPr/>
          <p:nvPr/>
        </p:nvSpPr>
        <p:spPr>
          <a:xfrm>
            <a:off x="3673602" y="2322576"/>
            <a:ext cx="217398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73602" y="2697480"/>
            <a:ext cx="217398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partner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49340" y="2249424"/>
            <a:ext cx="2503170" cy="749808"/>
          </a:xfrm>
          <a:prstGeom prst="roundRect">
            <a:avLst>
              <a:gd name="adj" fmla="val 7317"/>
            </a:avLst>
          </a:prstGeom>
          <a:solidFill>
            <a:srgbClr val="F4F6F4"/>
          </a:solidFill>
        </p:spPr>
      </p:sp>
      <p:sp>
        <p:nvSpPr>
          <p:cNvPr id="29" name="Text 27"/>
          <p:cNvSpPr/>
          <p:nvPr/>
        </p:nvSpPr>
        <p:spPr>
          <a:xfrm>
            <a:off x="6313932" y="2322576"/>
            <a:ext cx="217398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13932" y="2697480"/>
            <a:ext cx="217398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89670" y="2249424"/>
            <a:ext cx="2503170" cy="749808"/>
          </a:xfrm>
          <a:prstGeom prst="roundRect">
            <a:avLst>
              <a:gd name="adj" fmla="val 7317"/>
            </a:avLst>
          </a:prstGeom>
          <a:solidFill>
            <a:srgbClr val="F4F6F4"/>
          </a:solidFill>
        </p:spPr>
      </p:sp>
      <p:sp>
        <p:nvSpPr>
          <p:cNvPr id="32" name="Text 30"/>
          <p:cNvSpPr/>
          <p:nvPr/>
        </p:nvSpPr>
        <p:spPr>
          <a:xfrm>
            <a:off x="8954262" y="2322576"/>
            <a:ext cx="217398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54262" y="2697480"/>
            <a:ext cx="217398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signing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8680" y="3163824"/>
            <a:ext cx="10424160" cy="1828800"/>
          </a:xfrm>
          <a:prstGeom prst="roundRect">
            <a:avLst>
              <a:gd name="adj" fmla="val 3000"/>
            </a:avLst>
          </a:prstGeom>
          <a:solidFill>
            <a:srgbClr val="EEF2EF"/>
          </a:solidFill>
        </p:spPr>
      </p:sp>
      <p:sp>
        <p:nvSpPr>
          <p:cNvPr id="35" name="Text 33"/>
          <p:cNvSpPr/>
          <p:nvPr/>
        </p:nvSpPr>
        <p:spPr>
          <a:xfrm>
            <a:off x="1051560" y="32552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MAP — SHADED BY AGREEMENT INTENSITY IN AI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4389120"/>
            <a:ext cx="457200" cy="457200"/>
          </a:xfrm>
          <a:prstGeom prst="ellipse">
            <a:avLst/>
          </a:prstGeom>
          <a:solidFill>
            <a:srgbClr val="5B8C6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4160520"/>
            <a:ext cx="274320" cy="274320"/>
          </a:xfrm>
          <a:prstGeom prst="ellipse">
            <a:avLst/>
          </a:prstGeom>
          <a:solidFill>
            <a:srgbClr val="9AC0A8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4434840"/>
            <a:ext cx="347472" cy="347472"/>
          </a:xfrm>
          <a:prstGeom prst="ellipse">
            <a:avLst/>
          </a:prstGeom>
          <a:solidFill>
            <a:srgbClr val="7DAE8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206240"/>
            <a:ext cx="402336" cy="402336"/>
          </a:xfrm>
          <a:prstGeom prst="ellipse">
            <a:avLst/>
          </a:prstGeom>
          <a:solidFill>
            <a:srgbClr val="5B8C6E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4526280"/>
            <a:ext cx="219456" cy="219456"/>
          </a:xfrm>
          <a:prstGeom prst="ellipse">
            <a:avLst/>
          </a:prstGeom>
          <a:solidFill>
            <a:srgbClr val="B6D2C0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32520" y="4297680"/>
            <a:ext cx="292608" cy="292608"/>
          </a:xfrm>
          <a:prstGeom prst="ellipse">
            <a:avLst/>
          </a:prstGeom>
          <a:solidFill>
            <a:srgbClr val="9AC0A8"/>
          </a:solidFill>
          <a:ln w="6350">
            <a:solidFill>
              <a:srgbClr val="1F3A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4389120"/>
            <a:ext cx="457200" cy="457200"/>
          </a:xfrm>
          <a:prstGeom prst="ellipse">
            <a:avLst/>
          </a:prstGeom>
          <a:ln w="28575">
            <a:solidFill>
              <a:srgbClr val="D98E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47365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" y="5148072"/>
            <a:ext cx="10424160" cy="1078992"/>
          </a:xfrm>
          <a:prstGeom prst="roundRect">
            <a:avLst>
              <a:gd name="adj" fmla="val 5085"/>
            </a:avLst>
          </a:prstGeom>
          <a:solidFill>
            <a:srgbClr val="F4F6F4"/>
          </a:solidFill>
          <a:ln w="9525">
            <a:solidFill>
              <a:srgbClr val="D8DE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52486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— United States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51560" y="555955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iCET — Initiative on Critical and Emerging Technology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51560" y="5815584"/>
            <a:ext cx="7040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MoU · $500M · tech transfer: yes · joint research: yes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921240" y="52760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7F0EA"/>
          </a:solidFill>
        </p:spPr>
      </p:sp>
      <p:sp>
        <p:nvSpPr>
          <p:cNvPr id="49" name="Text 47"/>
          <p:cNvSpPr/>
          <p:nvPr/>
        </p:nvSpPr>
        <p:spPr>
          <a:xfrm>
            <a:off x="9921240" y="527608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page, and why detail stays hidden until you 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4"/>
          </a:solidFill>
        </p:spPr>
      </p:sp>
      <p:sp>
        <p:nvSpPr>
          <p:cNvPr id="5" name="Text 3"/>
          <p:cNvSpPr/>
          <p:nvPr/>
        </p:nvSpPr>
        <p:spPr>
          <a:xfrm>
            <a:off x="914400" y="1828800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page, one shared filter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17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— stats, map, drill-down panel — reacts to the same domain selection. It behaves like one instrument, not a set of disconnected charts you have to reconcile yourself.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4"/>
          </a:solidFill>
        </p:spPr>
      </p:sp>
      <p:sp>
        <p:nvSpPr>
          <p:cNvPr id="8" name="Text 6"/>
          <p:cNvSpPr/>
          <p:nvPr/>
        </p:nvSpPr>
        <p:spPr>
          <a:xfrm>
            <a:off x="6446520" y="1828800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shows until you click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617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dozens of countries and domains, showing everything at once would be unreadable. The map stays clean at rest; detail only appears once you've clicked a country, and again once you've clicked an agreement.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recolors per domain — a single total would hide the pattern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“total agreements” heatmap flattens an important signal: a country can dominate one domain and barely register in another.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</p:spPr>
      </p:sp>
      <p:sp>
        <p:nvSpPr>
          <p:cNvPr id="6" name="Text 4"/>
          <p:cNvSpPr/>
          <p:nvPr/>
        </p:nvSpPr>
        <p:spPr>
          <a:xfrm>
            <a:off x="822960" y="23317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Russia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457200" cy="457200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8" name="Text 6"/>
          <p:cNvSpPr/>
          <p:nvPr/>
        </p:nvSpPr>
        <p:spPr>
          <a:xfrm>
            <a:off x="3383280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nuclear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7614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decades of cooperation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2624328"/>
            <a:ext cx="201168" cy="201168"/>
          </a:xfrm>
          <a:prstGeom prst="ellipse">
            <a:avLst/>
          </a:prstGeom>
          <a:solidFill>
            <a:srgbClr val="C9D2CB"/>
          </a:solidFill>
        </p:spPr>
      </p:sp>
      <p:sp>
        <p:nvSpPr>
          <p:cNvPr id="11" name="Text 9"/>
          <p:cNvSpPr/>
          <p:nvPr/>
        </p:nvSpPr>
        <p:spPr>
          <a:xfrm>
            <a:off x="7726680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27614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presence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</p:spPr>
      </p:sp>
      <p:sp>
        <p:nvSpPr>
          <p:cNvPr id="14" name="Text 12"/>
          <p:cNvSpPr/>
          <p:nvPr/>
        </p:nvSpPr>
        <p:spPr>
          <a:xfrm>
            <a:off x="822960" y="3749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Japan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2743200" y="3977640"/>
            <a:ext cx="457200" cy="457200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16" name="Text 14"/>
          <p:cNvSpPr/>
          <p:nvPr/>
        </p:nvSpPr>
        <p:spPr>
          <a:xfrm>
            <a:off x="3383280" y="37947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178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growing investment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4041648"/>
            <a:ext cx="201168" cy="201168"/>
          </a:xfrm>
          <a:prstGeom prst="ellipse">
            <a:avLst/>
          </a:prstGeom>
          <a:solidFill>
            <a:srgbClr val="C9D2CB"/>
          </a:solidFill>
        </p:spPr>
      </p:sp>
      <p:sp>
        <p:nvSpPr>
          <p:cNvPr id="19" name="Text 17"/>
          <p:cNvSpPr/>
          <p:nvPr/>
        </p:nvSpPr>
        <p:spPr>
          <a:xfrm>
            <a:off x="7726680" y="37947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41788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cooperation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domains, chosen because each has real agreements behind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086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5" name="Shape 3"/>
          <p:cNvSpPr/>
          <p:nvPr/>
        </p:nvSpPr>
        <p:spPr>
          <a:xfrm>
            <a:off x="769468" y="180136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484" y="19293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036" y="24048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2036" y="286207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iCET, UK Technology Security Initiative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550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10" name="Shape 7"/>
          <p:cNvSpPr/>
          <p:nvPr/>
        </p:nvSpPr>
        <p:spPr>
          <a:xfrm>
            <a:off x="3604108" y="180136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2124" y="192938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6676" y="24048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76676" y="286207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Micron, Japan &amp; Korea chip deals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014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15" name="Shape 11"/>
          <p:cNvSpPr/>
          <p:nvPr/>
        </p:nvSpPr>
        <p:spPr>
          <a:xfrm>
            <a:off x="6438748" y="180136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764" y="192938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1316" y="24048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technology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1316" y="286207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NISAR, Gaganyaan, ISRO-CNES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44788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20" name="Shape 15"/>
          <p:cNvSpPr/>
          <p:nvPr/>
        </p:nvSpPr>
        <p:spPr>
          <a:xfrm>
            <a:off x="9273388" y="180136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404" y="192938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5956" y="24048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technology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45956" y="286207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BrahMos, jet engine co-production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0868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25" name="Shape 19"/>
          <p:cNvSpPr/>
          <p:nvPr/>
        </p:nvSpPr>
        <p:spPr>
          <a:xfrm>
            <a:off x="769468" y="399592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4" y="412394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2036" y="4599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Nuclear technology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42036" y="505663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Kudankulam, the 123 Agreement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75508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30" name="Shape 23"/>
          <p:cNvSpPr/>
          <p:nvPr/>
        </p:nvSpPr>
        <p:spPr>
          <a:xfrm>
            <a:off x="3604108" y="399592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24" y="412394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76676" y="4599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576676" y="505663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Quad-linked info sharing, joint drills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10148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35" name="Shape 27"/>
          <p:cNvSpPr/>
          <p:nvPr/>
        </p:nvSpPr>
        <p:spPr>
          <a:xfrm>
            <a:off x="6438748" y="399592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764" y="4123944"/>
            <a:ext cx="246888" cy="2468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11316" y="4599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public infrastructure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11316" y="505663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links with UAE, Singapore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44788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4"/>
          </a:solidFill>
        </p:spPr>
      </p:sp>
      <p:sp>
        <p:nvSpPr>
          <p:cNvPr id="40" name="Shape 31"/>
          <p:cNvSpPr/>
          <p:nvPr/>
        </p:nvSpPr>
        <p:spPr>
          <a:xfrm>
            <a:off x="9273388" y="3995928"/>
            <a:ext cx="502920" cy="502920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404" y="4123944"/>
            <a:ext cx="246888" cy="2468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45956" y="4599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hydrogen / renewables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245956" y="5056632"/>
            <a:ext cx="2203704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roadmap, I2U2 with UAE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countries and one bloc, not the whole world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weeks, the limiting factor is research depth, not code. We chose partners where real, verifiable agreements exist — a fully populated map, not a mostly-empty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201168" cy="201168"/>
          </a:xfrm>
          <a:prstGeom prst="ellipse">
            <a:avLst/>
          </a:prstGeom>
          <a:solidFill>
            <a:srgbClr val="1F3A2E"/>
          </a:solidFill>
        </p:spPr>
      </p:sp>
      <p:sp>
        <p:nvSpPr>
          <p:cNvPr id="6" name="Text 4"/>
          <p:cNvSpPr/>
          <p:nvPr/>
        </p:nvSpPr>
        <p:spPr>
          <a:xfrm>
            <a:off x="896112" y="2103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decades-long ties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03320" y="2103120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03120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30952" y="210312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2103120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18504" y="2103120"/>
            <a:ext cx="73152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2103120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14616" y="210312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2103120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16" name="Text 14"/>
          <p:cNvSpPr/>
          <p:nvPr/>
        </p:nvSpPr>
        <p:spPr>
          <a:xfrm>
            <a:off x="896112" y="30906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partnerships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3090672"/>
            <a:ext cx="91440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3090672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2312" y="309067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3090672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01384" y="3090672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3090672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46136" y="3090672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6136" y="3090672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87952"/>
            <a:ext cx="201168" cy="201168"/>
          </a:xfrm>
          <a:prstGeom prst="ellipse">
            <a:avLst/>
          </a:prstGeom>
          <a:solidFill>
            <a:srgbClr val="D98E2B"/>
          </a:solidFill>
        </p:spPr>
      </p:sp>
      <p:sp>
        <p:nvSpPr>
          <p:cNvPr id="26" name="Text 24"/>
          <p:cNvSpPr/>
          <p:nvPr/>
        </p:nvSpPr>
        <p:spPr>
          <a:xfrm>
            <a:off x="896112" y="407822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emerging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703320" y="4078224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4078224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90872" y="4078224"/>
            <a:ext cx="54864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4078224"/>
            <a:ext cx="548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04104" y="407822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4078224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0296" y="4078224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0296" y="4078224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02168" y="4078224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4078224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(bloc)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175504"/>
            <a:ext cx="201168" cy="201168"/>
          </a:xfrm>
          <a:prstGeom prst="ellipse">
            <a:avLst/>
          </a:prstGeom>
          <a:solidFill>
            <a:srgbClr val="9A9A96"/>
          </a:solidFill>
        </p:spPr>
      </p:sp>
      <p:sp>
        <p:nvSpPr>
          <p:cNvPr id="38" name="Text 36"/>
          <p:cNvSpPr/>
          <p:nvPr/>
        </p:nvSpPr>
        <p:spPr>
          <a:xfrm>
            <a:off x="896112" y="506577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/ hypothesis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703320" y="5065776"/>
            <a:ext cx="91440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5065776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82312" y="5065776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5065776"/>
            <a:ext cx="109728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44184" y="5065776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44184" y="5065776"/>
            <a:ext cx="8229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31736" y="5065776"/>
            <a:ext cx="73152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5065776"/>
            <a:ext cx="7315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927848" y="5065776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4F6F4"/>
          </a:solidFill>
          <a:ln w="9525">
            <a:solidFill>
              <a:srgbClr val="DCE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27848" y="5065776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(historical)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agreement is captured the same way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</p:spPr>
      </p:sp>
      <p:sp>
        <p:nvSpPr>
          <p:cNvPr id="5" name="Shape 3"/>
          <p:cNvSpPr/>
          <p:nvPr/>
        </p:nvSpPr>
        <p:spPr>
          <a:xfrm>
            <a:off x="868680" y="1984248"/>
            <a:ext cx="603504" cy="603504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7452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43400" y="187452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year · partner country · region · sector · sub-sector · diplomatic phase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</p:spPr>
      </p:sp>
      <p:sp>
        <p:nvSpPr>
          <p:cNvPr id="10" name="Shape 7"/>
          <p:cNvSpPr/>
          <p:nvPr/>
        </p:nvSpPr>
        <p:spPr>
          <a:xfrm>
            <a:off x="868680" y="3401568"/>
            <a:ext cx="603504" cy="603504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5661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29184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Substance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43400" y="329184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type · keywords · investment value · tech transfer · joint research · direction of flow · institutions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</p:spPr>
      </p:sp>
      <p:sp>
        <p:nvSpPr>
          <p:cNvPr id="15" name="Shape 11"/>
          <p:cNvSpPr/>
          <p:nvPr/>
        </p:nvSpPr>
        <p:spPr>
          <a:xfrm>
            <a:off x="868680" y="4818888"/>
            <a:ext cx="603504" cy="603504"/>
          </a:xfrm>
          <a:prstGeom prst="ellipse">
            <a:avLst/>
          </a:prstGeom>
          <a:solidFill>
            <a:srgbClr val="E7F0E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983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091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outcome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343400" y="470916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(active / lapsed / stalled) · duration or renewal · strategic importance · source link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PROMISING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honestly, on purpose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5" name="Text 3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global coverage — only the 16 partners and 8 prevailing domains. 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8" name="Text 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063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a credible, sourced sample of agreements, not a claim of every agreement ever signed.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5B8C6E"/>
          </a:solidFill>
        </p:spPr>
      </p:sp>
      <p:sp>
        <p:nvSpPr>
          <p:cNvPr id="11" name="Text 9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2062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of capability — agreement density reflects diplomatic activity, not who is ahead in any given technology.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4475</Words>
  <Application>WPS Presentation</Application>
  <PresentationFormat>On-screen Show (16:9)</PresentationFormat>
  <Paragraphs>274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Calibri</vt:lpstr>
      <vt:lpstr>Calibri</vt:lpstr>
      <vt:lpstr>Helvetica Neue</vt:lpstr>
      <vt:lpstr>Arial</vt:lpstr>
      <vt:lpstr>Arial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India's Technology Diplomacy Dashboard</dc:title>
  <dc:creator>India Tech Diplomacy Project</dc:creator>
  <dc:subject>PptxGenJS Presentation</dc:subject>
  <cp:lastModifiedBy>Prajakta Sanjayrao Pawar</cp:lastModifiedBy>
  <cp:revision>3</cp:revision>
  <dcterms:created xsi:type="dcterms:W3CDTF">2026-06-17T07:19:39Z</dcterms:created>
  <dcterms:modified xsi:type="dcterms:W3CDTF">2026-06-17T07:19:39Z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1033-12.1.25898.25898</vt:lpwstr>
  </property>
  <property fmtid="{D5CDD505-2E9C-101B-9397-08002B2CF9AE}" pid="3" name="ICV">
    <vt:lpwstr>7B2B42F981EA8E2A4B49326A5BC0C457_42</vt:lpwstr>
  </property>
</Properties>
</file>